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7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1.png"/><Relationship Id="rId5" Type="http://schemas.openxmlformats.org/officeDocument/2006/relationships/image" Target="../media/image-6-1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1.png"/><Relationship Id="rId4" Type="http://schemas.openxmlformats.org/officeDocument/2006/relationships/image" Target="../media/image-9-4.png"/><Relationship Id="rId5" Type="http://schemas.openxmlformats.org/officeDocument/2006/relationships/image" Target="../media/image-9-4.png"/><Relationship Id="rId6" Type="http://schemas.openxmlformats.org/officeDocument/2006/relationships/image" Target="../media/image-9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1.png"/><Relationship Id="rId4" Type="http://schemas.openxmlformats.org/officeDocument/2006/relationships/image" Target="../media/image-15-1.png"/><Relationship Id="rId5" Type="http://schemas.openxmlformats.org/officeDocument/2006/relationships/image" Target="../media/image-15-1.png"/><Relationship Id="rId6" Type="http://schemas.openxmlformats.org/officeDocument/2006/relationships/image" Target="../media/image-15-1.png"/><Relationship Id="rId7" Type="http://schemas.openxmlformats.org/officeDocument/2006/relationships/image" Target="../media/image-15-1.png"/><Relationship Id="rId8" Type="http://schemas.openxmlformats.org/officeDocument/2006/relationships/image" Target="../media/image-15-1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560320"/>
            <a:ext cx="6400800" cy="64008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840480" cy="3840480"/>
          </a:xfrm>
          <a:prstGeom prst="ellipse">
            <a:avLst/>
          </a:prstGeom>
          <a:solidFill>
            <a:srgbClr val="26328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PHONE-BASED AI NAVIGATION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78308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MVP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15-part build plan for real-time obstacle awareness through sound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283A78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16052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150" dirty="0"/>
          </a:p>
        </p:txBody>
      </p:sp>
      <p:pic>
        <p:nvPicPr>
          <p:cNvPr id="9" name="Image 0" descr="icons/arro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3472" y="4480560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898648" y="41605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283A78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71800" y="416052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50" dirty="0"/>
          </a:p>
        </p:txBody>
      </p:sp>
      <p:pic>
        <p:nvPicPr>
          <p:cNvPr id="12" name="Image 1" descr="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480560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65776" y="41605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283A78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138928" y="416052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+ Direction</a:t>
            </a:r>
            <a:endParaRPr lang="en-US" sz="1150" dirty="0"/>
          </a:p>
        </p:txBody>
      </p:sp>
      <p:pic>
        <p:nvPicPr>
          <p:cNvPr id="15" name="Image 2" descr="icons/arrow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4480560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7232904" y="41605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283A78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7306056" y="416052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150" dirty="0"/>
          </a:p>
        </p:txBody>
      </p:sp>
      <p:pic>
        <p:nvPicPr>
          <p:cNvPr id="18" name="Image 3" descr="icons/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4856" y="4480560"/>
            <a:ext cx="237744" cy="2377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9400032" y="416052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283A78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9473184" y="4160520"/>
            <a:ext cx="1728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Beeps / Vibration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73152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proof: the user can tell left / center / right obstacle position through sound alone.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15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build now vs. later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55080" y="178308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2188159"/>
            <a:ext cx="241402" cy="2414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8B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NOW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10" name="Image 1" descr="icons/cro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159" y="2188159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207568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341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SKIP FOR NOW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868680" y="2743200"/>
            <a:ext cx="46177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camera feed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AI inference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 detection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center / right mapping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/ medium / far distance estimate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beeps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feedback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mode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675120" y="2743200"/>
            <a:ext cx="461772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routing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 reading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servers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hardware</a:t>
            </a:r>
            <a:endParaRPr lang="en-US" sz="14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 model training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MVP stack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7589520" cy="786384"/>
          </a:xfrm>
          <a:prstGeom prst="roundRect">
            <a:avLst>
              <a:gd name="adj" fmla="val 814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65960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mobile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9397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2880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Flutter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343400" y="182880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UI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7589520" cy="786384"/>
          </a:xfrm>
          <a:prstGeom prst="roundRect">
            <a:avLst>
              <a:gd name="adj" fmla="val 814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80360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cod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300837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274320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343400" y="274320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logic &amp; settings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7589520" cy="786384"/>
          </a:xfrm>
          <a:prstGeom prst="roundRect">
            <a:avLst>
              <a:gd name="adj" fmla="val 814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794760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tf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92277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65760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Lite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4343400" y="365760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AI inference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548640" y="4572000"/>
            <a:ext cx="7589520" cy="786384"/>
          </a:xfrm>
          <a:prstGeom prst="roundRect">
            <a:avLst>
              <a:gd name="adj" fmla="val 814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709160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android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83717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457200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 / Android Native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4343400" y="457200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performance layer</a:t>
            </a:r>
            <a:endParaRPr lang="en-US" sz="1350" dirty="0"/>
          </a:p>
        </p:txBody>
      </p:sp>
      <p:sp>
        <p:nvSpPr>
          <p:cNvPr id="24" name="Shape 18"/>
          <p:cNvSpPr/>
          <p:nvPr/>
        </p:nvSpPr>
        <p:spPr>
          <a:xfrm>
            <a:off x="548640" y="5486400"/>
            <a:ext cx="7589520" cy="786384"/>
          </a:xfrm>
          <a:prstGeom prst="roundRect">
            <a:avLst>
              <a:gd name="adj" fmla="val 814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5623560"/>
            <a:ext cx="512064" cy="51206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icons/python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575157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486400"/>
            <a:ext cx="2834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4343400" y="5486400"/>
            <a:ext cx="3657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testing, exporting models</a:t>
            </a:r>
            <a:endParaRPr lang="en-US" sz="1350" dirty="0"/>
          </a:p>
        </p:txBody>
      </p:sp>
      <p:sp>
        <p:nvSpPr>
          <p:cNvPr id="29" name="Shape 22"/>
          <p:cNvSpPr/>
          <p:nvPr/>
        </p:nvSpPr>
        <p:spPr>
          <a:xfrm>
            <a:off x="8503920" y="1828800"/>
            <a:ext cx="3108960" cy="3675888"/>
          </a:xfrm>
          <a:prstGeom prst="roundRect">
            <a:avLst>
              <a:gd name="adj" fmla="val 264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778240" y="2148840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31" name="Image 5" descr="icons/pin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0886" y="2291486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order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778240" y="3246120"/>
            <a:ext cx="2606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Android-first. Validate the detection-to-audio loop before investing in cross-platform polish or a native performance layer.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CHOICE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pretrained, lightweight detector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0" cy="4343400"/>
          </a:xfrm>
          <a:prstGeom prst="roundRect">
            <a:avLst>
              <a:gd name="adj" fmla="val 1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594360" cy="59436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6" name="Image 0" descr="icons/crosshai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23033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8036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YOLOv8n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22960" y="331012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YOLO11n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886200"/>
            <a:ext cx="36118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enough for on-device use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footprint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export to TFLite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fine-tune later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07492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detection classes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74920" y="23317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50408" y="253288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1" descr="icons/walking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6" y="268833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32461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812280" y="23317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87768" y="253288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icons/car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2688336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12280" y="32461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8549640" y="23317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25128" y="253288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bus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68833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49640" y="32461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10287000" y="233172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762488" y="253288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5" name="Image 4" descr="icons/bik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7936" y="2688336"/>
            <a:ext cx="310896" cy="31089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287000" y="324612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Bicycle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5074920" y="406908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5550408" y="427024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9" name="Image 5" descr="icons/moto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5856" y="4425696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074920" y="49834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Motorbike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6812280" y="406908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7287768" y="427024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3" name="Image 6" descr="icons/chair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3216" y="4425696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12280" y="49834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</a:t>
            </a:r>
            <a:endParaRPr lang="en-US" sz="1250" dirty="0"/>
          </a:p>
        </p:txBody>
      </p:sp>
      <p:sp>
        <p:nvSpPr>
          <p:cNvPr id="35" name="Shape 26"/>
          <p:cNvSpPr/>
          <p:nvPr/>
        </p:nvSpPr>
        <p:spPr>
          <a:xfrm>
            <a:off x="8549640" y="406908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6" name="Shape 27"/>
          <p:cNvSpPr/>
          <p:nvPr/>
        </p:nvSpPr>
        <p:spPr>
          <a:xfrm>
            <a:off x="9025128" y="427024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7" name="Image 7" descr="icons/chair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576" y="4425696"/>
            <a:ext cx="310896" cy="31089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549640" y="49834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</a:t>
            </a:r>
            <a:endParaRPr lang="en-US" sz="1250" dirty="0"/>
          </a:p>
        </p:txBody>
      </p:sp>
      <p:sp>
        <p:nvSpPr>
          <p:cNvPr id="39" name="Shape 29"/>
          <p:cNvSpPr/>
          <p:nvPr/>
        </p:nvSpPr>
        <p:spPr>
          <a:xfrm>
            <a:off x="10287000" y="4069080"/>
            <a:ext cx="1572768" cy="1572768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40" name="Shape 30"/>
          <p:cNvSpPr/>
          <p:nvPr/>
        </p:nvSpPr>
        <p:spPr>
          <a:xfrm>
            <a:off x="10762488" y="4270248"/>
            <a:ext cx="621792" cy="62179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1" name="Image 8" descr="icons/dog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17936" y="4425696"/>
            <a:ext cx="310896" cy="310896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10287000" y="4983480"/>
            <a:ext cx="15727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</a:t>
            </a:r>
            <a:endParaRPr lang="en-US" sz="1250" dirty="0"/>
          </a:p>
        </p:txBody>
      </p:sp>
      <p:sp>
        <p:nvSpPr>
          <p:cNvPr id="43" name="Text 32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  <p:sp>
        <p:nvSpPr>
          <p:cNvPr id="44" name="Text 3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ROLE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builds the model — not the app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used for AI development, not the final app runtime: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dataset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688336" y="23317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16352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16352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YOLO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828032" y="23317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56048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56048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later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967728" y="23317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95744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95744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model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07424" y="233172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35440" y="24231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TFLite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3794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uses only the exported model: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3434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4343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.pt model</a:t>
            </a:r>
            <a:endParaRPr lang="en-US" sz="1550" dirty="0"/>
          </a:p>
        </p:txBody>
      </p:sp>
      <p:pic>
        <p:nvPicPr>
          <p:cNvPr id="23" name="Image 0" descr="icons/arrow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5072" y="4709160"/>
            <a:ext cx="310896" cy="2743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4572000" y="43434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572000" y="4343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.tflite export</a:t>
            </a:r>
            <a:endParaRPr lang="en-US" sz="1550" dirty="0"/>
          </a:p>
        </p:txBody>
      </p:sp>
      <p:pic>
        <p:nvPicPr>
          <p:cNvPr id="26" name="Image 1" descr="icons/arrow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2" y="4709160"/>
            <a:ext cx="310896" cy="27432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8595360" y="4343400"/>
            <a:ext cx="3200400" cy="1005840"/>
          </a:xfrm>
          <a:prstGeom prst="roundRect">
            <a:avLst>
              <a:gd name="adj" fmla="val 7273"/>
            </a:avLst>
          </a:prstGeom>
          <a:solidFill>
            <a:srgbClr val="F4F6FC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8595360" y="43434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Bundled in Flutter app</a:t>
            </a:r>
            <a:endParaRPr lang="en-US" sz="1550" dirty="0"/>
          </a:p>
        </p:txBody>
      </p:sp>
      <p:sp>
        <p:nvSpPr>
          <p:cNvPr id="29" name="Text 25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camera frame to audio cue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51180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83A78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4332" y="2331720"/>
            <a:ext cx="1271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UI</a:t>
            </a:r>
            <a:endParaRPr lang="en-US" sz="1100" dirty="0"/>
          </a:p>
        </p:txBody>
      </p:sp>
      <p:pic>
        <p:nvPicPr>
          <p:cNvPr id="6" name="Image 0" descr="icons/arro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3072" y="2916936"/>
            <a:ext cx="201168" cy="201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296516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83A78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69668" y="2331720"/>
            <a:ext cx="1271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stream</a:t>
            </a:r>
            <a:endParaRPr lang="en-US" sz="1100" dirty="0"/>
          </a:p>
        </p:txBody>
      </p:sp>
      <p:pic>
        <p:nvPicPr>
          <p:cNvPr id="9" name="Image 1" descr="icons/arrow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8408" y="2916936"/>
            <a:ext cx="201168" cy="20116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841852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83A78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915004" y="2331720"/>
            <a:ext cx="1271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inference</a:t>
            </a:r>
            <a:endParaRPr lang="en-US" sz="1100" dirty="0"/>
          </a:p>
        </p:txBody>
      </p:sp>
      <p:pic>
        <p:nvPicPr>
          <p:cNvPr id="12" name="Image 2" descr="icons/arrow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3744" y="2916936"/>
            <a:ext cx="201168" cy="20116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387188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83A78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460340" y="2331720"/>
            <a:ext cx="1271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parser</a:t>
            </a:r>
            <a:endParaRPr lang="en-US" sz="1100" dirty="0"/>
          </a:p>
        </p:txBody>
      </p:sp>
      <p:pic>
        <p:nvPicPr>
          <p:cNvPr id="15" name="Image 3" descr="icons/arrow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080" y="2916936"/>
            <a:ext cx="201168" cy="20116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932524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FF6B35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005676" y="2331720"/>
            <a:ext cx="1271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100" dirty="0"/>
          </a:p>
        </p:txBody>
      </p:sp>
      <p:pic>
        <p:nvPicPr>
          <p:cNvPr id="18" name="Image 4" descr="icons/arrow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4416" y="2916936"/>
            <a:ext cx="201168" cy="20116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8477860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83A78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8551012" y="2331720"/>
            <a:ext cx="1271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cue service</a:t>
            </a:r>
            <a:endParaRPr lang="en-US" sz="1100" dirty="0"/>
          </a:p>
        </p:txBody>
      </p:sp>
      <p:pic>
        <p:nvPicPr>
          <p:cNvPr id="21" name="Image 5" descr="icons/arrow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99752" y="2916936"/>
            <a:ext cx="201168" cy="20116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10023196" y="2331720"/>
            <a:ext cx="1417320" cy="1371600"/>
          </a:xfrm>
          <a:prstGeom prst="roundRect">
            <a:avLst>
              <a:gd name="adj" fmla="val 5333"/>
            </a:avLst>
          </a:prstGeom>
          <a:solidFill>
            <a:srgbClr val="283A78"/>
          </a:solidFill>
          <a:ln w="12700">
            <a:solidFill>
              <a:srgbClr val="3C4C93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10096348" y="2331720"/>
            <a:ext cx="127101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service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1371600" y="42062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first version simple. Native Kotlin can come after the Flutter prototype proves the loop works.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4175608" y="4892040"/>
            <a:ext cx="201168" cy="201168"/>
          </a:xfrm>
          <a:prstGeom prst="ellipse">
            <a:avLst/>
          </a:prstGeom>
          <a:solidFill>
            <a:srgbClr val="283A78"/>
          </a:solidFill>
          <a:ln/>
        </p:spPr>
      </p:sp>
      <p:sp>
        <p:nvSpPr>
          <p:cNvPr id="26" name="Text 18"/>
          <p:cNvSpPr/>
          <p:nvPr/>
        </p:nvSpPr>
        <p:spPr>
          <a:xfrm>
            <a:off x="4468216" y="4828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stage</a:t>
            </a:r>
            <a:endParaRPr lang="en-US" sz="1150" dirty="0"/>
          </a:p>
        </p:txBody>
      </p:sp>
      <p:sp>
        <p:nvSpPr>
          <p:cNvPr id="27" name="Shape 19"/>
          <p:cNvSpPr/>
          <p:nvPr/>
        </p:nvSpPr>
        <p:spPr>
          <a:xfrm>
            <a:off x="6141568" y="4892040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Text 20"/>
          <p:cNvSpPr/>
          <p:nvPr/>
        </p:nvSpPr>
        <p:spPr>
          <a:xfrm>
            <a:off x="6434176" y="48280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point</a:t>
            </a:r>
            <a:endParaRPr lang="en-US" sz="1150" dirty="0"/>
          </a:p>
        </p:txBody>
      </p:sp>
      <p:sp>
        <p:nvSpPr>
          <p:cNvPr id="29" name="Text 21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process every frame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202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from camera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0" y="178308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0" y="192024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5–15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0" y="2926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actually processed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955280" y="1783080"/>
            <a:ext cx="3611880" cy="3977640"/>
          </a:xfrm>
          <a:prstGeom prst="roundRect">
            <a:avLst>
              <a:gd name="adj" fmla="val 2278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rules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11312" y="2468880"/>
            <a:ext cx="31089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frames when the model is busy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use the newest frame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frame queues — old frames are dangerous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6949440" cy="1371600"/>
          </a:xfrm>
          <a:prstGeom prst="roundRect">
            <a:avLst>
              <a:gd name="adj" fmla="val 6000"/>
            </a:avLst>
          </a:prstGeom>
          <a:solidFill>
            <a:srgbClr val="FDECE7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14" name="Image 0" descr="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4315968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777240" y="4270248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6" name="Image 1" descr="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389120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08760" y="4114800"/>
            <a:ext cx="5806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process the most recent frame available, never a backlog — stale frames create dangerous lag between what the user hears and what's actually in front of them.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detection → usable signal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074920" cy="3566160"/>
          </a:xfrm>
          <a:prstGeom prst="roundRect">
            <a:avLst>
              <a:gd name="adj" fmla="val 2308"/>
            </a:avLst>
          </a:prstGeom>
          <a:solidFill>
            <a:srgbClr val="141B49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03120"/>
            <a:ext cx="146304" cy="146304"/>
          </a:xfrm>
          <a:prstGeom prst="ellipse">
            <a:avLst/>
          </a:prstGeom>
          <a:solidFill>
            <a:srgbClr val="5A6BC4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103120"/>
            <a:ext cx="146304" cy="146304"/>
          </a:xfrm>
          <a:prstGeom prst="ellipse">
            <a:avLst/>
          </a:prstGeom>
          <a:solidFill>
            <a:srgbClr val="5A6BC4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2103120"/>
            <a:ext cx="146304" cy="146304"/>
          </a:xfrm>
          <a:prstGeom prst="ellipse">
            <a:avLst/>
          </a:prstGeom>
          <a:solidFill>
            <a:srgbClr val="5A6BC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PER-OBJECT DETECTION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4526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D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D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"label": "person",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D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"confidence": 0.86,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D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"box": [x1, y1, x2, y2]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D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806440" y="3429000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11" name="Image 0" descr="icons/arro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356616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263640" y="1874520"/>
            <a:ext cx="5074920" cy="3566160"/>
          </a:xfrm>
          <a:prstGeom prst="roundRect">
            <a:avLst>
              <a:gd name="adj" fmla="val 2308"/>
            </a:avLst>
          </a:prstGeom>
          <a:solidFill>
            <a:srgbClr val="141B49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37960" y="2103120"/>
            <a:ext cx="146304" cy="146304"/>
          </a:xfrm>
          <a:prstGeom prst="ellipse">
            <a:avLst/>
          </a:prstGeom>
          <a:solidFill>
            <a:srgbClr val="5A6BC4"/>
          </a:solidFill>
          <a:ln/>
        </p:spPr>
      </p:sp>
      <p:sp>
        <p:nvSpPr>
          <p:cNvPr id="14" name="Shape 11"/>
          <p:cNvSpPr/>
          <p:nvPr/>
        </p:nvSpPr>
        <p:spPr>
          <a:xfrm>
            <a:off x="6766560" y="2103120"/>
            <a:ext cx="146304" cy="146304"/>
          </a:xfrm>
          <a:prstGeom prst="ellipse">
            <a:avLst/>
          </a:prstGeom>
          <a:solidFill>
            <a:srgbClr val="5A6BC4"/>
          </a:solidFill>
          <a:ln/>
        </p:spPr>
      </p:sp>
      <p:sp>
        <p:nvSpPr>
          <p:cNvPr id="15" name="Shape 12"/>
          <p:cNvSpPr/>
          <p:nvPr/>
        </p:nvSpPr>
        <p:spPr>
          <a:xfrm>
            <a:off x="6995160" y="2103120"/>
            <a:ext cx="146304" cy="146304"/>
          </a:xfrm>
          <a:prstGeom prst="ellipse">
            <a:avLst/>
          </a:prstGeom>
          <a:solidFill>
            <a:srgbClr val="5A6BC4"/>
          </a:solidFill>
          <a:ln/>
        </p:spPr>
      </p:sp>
      <p:sp>
        <p:nvSpPr>
          <p:cNvPr id="16" name="Text 13"/>
          <p:cNvSpPr/>
          <p:nvPr/>
        </p:nvSpPr>
        <p:spPr>
          <a:xfrm>
            <a:off x="653796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SIGNAL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537960" y="2743200"/>
            <a:ext cx="4526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D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D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"zone": "left",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D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"distance": "medium",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D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"risk": 0.52</a:t>
            </a:r>
            <a:endParaRPr lang="en-US" sz="14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8D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MAPPING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Splitting the frame into three zones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53640" cy="3063240"/>
          </a:xfrm>
          <a:prstGeom prst="rect">
            <a:avLst/>
          </a:prstGeom>
          <a:solidFill>
            <a:srgbClr val="F4F6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03120"/>
            <a:ext cx="245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587752"/>
            <a:ext cx="245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&lt; 33%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386840" y="3200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icons/p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292" y="3387852"/>
            <a:ext cx="402336" cy="40233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002280" y="1783080"/>
            <a:ext cx="2453640" cy="3063240"/>
          </a:xfrm>
          <a:prstGeom prst="rect">
            <a:avLst/>
          </a:prstGeom>
          <a:solidFill>
            <a:srgbClr val="FFE9D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02280" y="2103120"/>
            <a:ext cx="245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34A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002280" y="2587752"/>
            <a:ext cx="245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33% – 66%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840480" y="3200400"/>
            <a:ext cx="777240" cy="7772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3" name="Image 1" descr="icons/bullsey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932" y="3387852"/>
            <a:ext cx="402336" cy="4023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55920" y="1783080"/>
            <a:ext cx="2453640" cy="3063240"/>
          </a:xfrm>
          <a:prstGeom prst="rect">
            <a:avLst/>
          </a:prstGeom>
          <a:solidFill>
            <a:srgbClr val="F4F6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55920" y="2103120"/>
            <a:ext cx="245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5455920" y="2587752"/>
            <a:ext cx="245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&gt; 66%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294120" y="3200400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2" descr="icons/p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572" y="3387852"/>
            <a:ext cx="402336" cy="40233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48640" y="1783080"/>
            <a:ext cx="7360920" cy="3063240"/>
          </a:xfrm>
          <a:prstGeom prst="roundRect">
            <a:avLst>
              <a:gd name="adj" fmla="val 2687"/>
            </a:avLst>
          </a:prstGeom>
          <a:ln w="25400">
            <a:solidFill>
              <a:srgbClr val="CADCF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183880" y="1783080"/>
            <a:ext cx="3429000" cy="3063240"/>
          </a:xfrm>
          <a:prstGeom prst="roundRect">
            <a:avLst>
              <a:gd name="adj" fmla="val 268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41248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routing</a:t>
            </a:r>
            <a:endParaRPr lang="en-US" sz="1550" dirty="0"/>
          </a:p>
        </p:txBody>
      </p:sp>
      <p:pic>
        <p:nvPicPr>
          <p:cNvPr id="22" name="Image 3" descr="icons/headphones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0" y="246888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851392" y="241401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 → left ear</a:t>
            </a:r>
            <a:endParaRPr lang="en-US" sz="1350" dirty="0"/>
          </a:p>
        </p:txBody>
      </p:sp>
      <p:pic>
        <p:nvPicPr>
          <p:cNvPr id="24" name="Image 4" descr="icons/headphones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0" y="3246120"/>
            <a:ext cx="329184" cy="32918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51392" y="31912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 → both ears</a:t>
            </a:r>
            <a:endParaRPr lang="en-US" sz="1350" dirty="0"/>
          </a:p>
        </p:txBody>
      </p:sp>
      <p:pic>
        <p:nvPicPr>
          <p:cNvPr id="26" name="Image 5" descr="icons/headphone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0" y="4023360"/>
            <a:ext cx="329184" cy="32918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851392" y="396849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 → right ear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548640" y="5074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is determined by the object's bounding-box center position across the frame width.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ESTIMATE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Bounding-box size as a distance proxy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948690" y="4091940"/>
            <a:ext cx="937260" cy="937260"/>
          </a:xfrm>
          <a:prstGeom prst="roundRect">
            <a:avLst>
              <a:gd name="adj" fmla="val 5854"/>
            </a:avLst>
          </a:prstGeom>
          <a:solidFill>
            <a:srgbClr val="F4F6F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5138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67178" y="3817620"/>
            <a:ext cx="1211580" cy="1211580"/>
          </a:xfrm>
          <a:prstGeom prst="roundRect">
            <a:avLst>
              <a:gd name="adj" fmla="val 4528"/>
            </a:avLst>
          </a:prstGeom>
          <a:solidFill>
            <a:srgbClr val="E8ECFA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95728" y="5138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Medium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65092" y="3502152"/>
            <a:ext cx="1527048" cy="1527048"/>
          </a:xfrm>
          <a:prstGeom prst="roundRect">
            <a:avLst>
              <a:gd name="adj" fmla="val 3593"/>
            </a:avLst>
          </a:prstGeom>
          <a:solidFill>
            <a:srgbClr val="FFE0CC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51376" y="5138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35574" y="3131820"/>
            <a:ext cx="1897380" cy="1897380"/>
          </a:xfrm>
          <a:prstGeom prst="roundRect">
            <a:avLst>
              <a:gd name="adj" fmla="val 2892"/>
            </a:avLst>
          </a:prstGeom>
          <a:solidFill>
            <a:srgbClr val="FF6B35"/>
          </a:solidFill>
          <a:ln w="15875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07024" y="51389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074920"/>
            <a:ext cx="6821424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640080" y="3611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box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07024" y="28803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box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783080"/>
            <a:ext cx="3246120" cy="3749040"/>
          </a:xfrm>
          <a:prstGeom prst="roundRect">
            <a:avLst>
              <a:gd name="adj" fmla="val 253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41080" y="2057400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17" name="Image 0" descr="icons/rul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3726" y="2200046"/>
            <a:ext cx="263347" cy="263347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59536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Later improvement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8595360" y="3200400"/>
            <a:ext cx="2743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Monocular depth model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ARCore depth API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where available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1783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approach: no depth sensors needed — box size alone drives the first working version.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scoring, first version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depends on: </a:t>
            </a:r>
            <a:pPr indent="0" marL="0"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type · distance · zone · (movement, later)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7406640" cy="658368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22402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98648"/>
            <a:ext cx="7406640" cy="658368"/>
          </a:xfrm>
          <a:prstGeom prst="roundRect">
            <a:avLst>
              <a:gd name="adj" fmla="val 8333"/>
            </a:avLst>
          </a:prstGeom>
          <a:solidFill>
            <a:srgbClr val="F4F6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89864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+ Near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577840" y="3054096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30540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7406640" cy="658368"/>
          </a:xfrm>
          <a:prstGeom prst="roundRect">
            <a:avLst>
              <a:gd name="adj" fmla="val 8333"/>
            </a:avLst>
          </a:prstGeom>
          <a:solidFill>
            <a:srgbClr val="F4F6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4845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/ Right + Near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77840" y="3803904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0A868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38039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7406640" cy="658368"/>
          </a:xfrm>
          <a:prstGeom prst="roundRect">
            <a:avLst>
              <a:gd name="adj" fmla="val 8333"/>
            </a:avLst>
          </a:prstGeom>
          <a:solidFill>
            <a:srgbClr val="F4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9826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+ Near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577840" y="4553712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45537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148072"/>
            <a:ext cx="7406640" cy="658368"/>
          </a:xfrm>
          <a:prstGeom prst="roundRect">
            <a:avLst>
              <a:gd name="adj" fmla="val 8333"/>
            </a:avLst>
          </a:prstGeom>
          <a:solidFill>
            <a:srgbClr val="F4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4807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(any zone)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577840" y="5303520"/>
            <a:ext cx="1371600" cy="347472"/>
          </a:xfrm>
          <a:prstGeom prst="roundRect">
            <a:avLst>
              <a:gd name="adj" fmla="val 50000"/>
            </a:avLst>
          </a:prstGeom>
          <a:solidFill>
            <a:srgbClr val="9AA3BD"/>
          </a:solidFill>
          <a:ln/>
        </p:spPr>
      </p:sp>
      <p:sp>
        <p:nvSpPr>
          <p:cNvPr id="23" name="Text 21"/>
          <p:cNvSpPr/>
          <p:nvPr/>
        </p:nvSpPr>
        <p:spPr>
          <a:xfrm>
            <a:off x="5577840" y="5303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2240280"/>
            <a:ext cx="3383280" cy="3337560"/>
          </a:xfrm>
          <a:prstGeom prst="roundRect">
            <a:avLst>
              <a:gd name="adj" fmla="val 246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0" y="2514600"/>
            <a:ext cx="548640" cy="54864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26" name="Image 0" descr="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6566" y="265724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458200" y="3200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alert the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458200" y="35478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1–2 Risks</a:t>
            </a:r>
            <a:endParaRPr lang="en-US" sz="2400" dirty="0"/>
          </a:p>
        </p:txBody>
      </p:sp>
      <p:sp>
        <p:nvSpPr>
          <p:cNvPr id="29" name="Text 26"/>
          <p:cNvSpPr/>
          <p:nvPr/>
        </p:nvSpPr>
        <p:spPr>
          <a:xfrm>
            <a:off x="8458200" y="416052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keeps the audio channel from becoming noise the user has to sort through.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FEEDBACK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Non-speech cues only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283A78"/>
          </a:solidFill>
          <a:ln/>
        </p:spPr>
      </p:sp>
      <p:sp>
        <p:nvSpPr>
          <p:cNvPr id="5" name="Shape 3"/>
          <p:cNvSpPr/>
          <p:nvPr/>
        </p:nvSpPr>
        <p:spPr>
          <a:xfrm>
            <a:off x="1207008" y="246888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icons/headphone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266090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4944" y="35204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obstacle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94944" y="411480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 left ear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798064" y="21488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283A78"/>
          </a:solidFill>
          <a:ln/>
        </p:spPr>
      </p:sp>
      <p:sp>
        <p:nvSpPr>
          <p:cNvPr id="10" name="Shape 7"/>
          <p:cNvSpPr/>
          <p:nvPr/>
        </p:nvSpPr>
        <p:spPr>
          <a:xfrm>
            <a:off x="3456432" y="246888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icons/headphone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66090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44368" y="35204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obstacle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2944368" y="411480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 right ear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47488" y="21488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283A78"/>
          </a:solidFill>
          <a:ln/>
        </p:spPr>
      </p:sp>
      <p:sp>
        <p:nvSpPr>
          <p:cNvPr id="15" name="Shape 11"/>
          <p:cNvSpPr/>
          <p:nvPr/>
        </p:nvSpPr>
        <p:spPr>
          <a:xfrm>
            <a:off x="5705856" y="246888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icons/volu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66090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93792" y="35204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 obstacle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193792" y="411480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 both ears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7296912" y="21488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283A78"/>
          </a:solidFill>
          <a:ln/>
        </p:spPr>
      </p:sp>
      <p:sp>
        <p:nvSpPr>
          <p:cNvPr id="20" name="Shape 15"/>
          <p:cNvSpPr/>
          <p:nvPr/>
        </p:nvSpPr>
        <p:spPr>
          <a:xfrm>
            <a:off x="7955280" y="246888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icons/bo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66090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43216" y="35204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Closer obstacle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443216" y="411480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click rate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546336" y="21488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FF6B35"/>
          </a:solidFill>
          <a:ln/>
        </p:spPr>
      </p:sp>
      <p:sp>
        <p:nvSpPr>
          <p:cNvPr id="25" name="Shape 19"/>
          <p:cNvSpPr/>
          <p:nvPr/>
        </p:nvSpPr>
        <p:spPr>
          <a:xfrm>
            <a:off x="10204704" y="2468880"/>
            <a:ext cx="768096" cy="76809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icons/warning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2660904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92640" y="3520440"/>
            <a:ext cx="1792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danger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692640" y="411480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B1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burst + vibration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48640" y="5486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spam in the MVP — every cue is a sound pattern, not spoken language.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Vibration as a safety backup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356616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7452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6" name="Image 0" descr="icons/vib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0941" y="231526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Near hazard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pulse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093976" y="448056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160520" y="1828800"/>
            <a:ext cx="3291840" cy="356616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0" y="2148840"/>
            <a:ext cx="640080" cy="640080"/>
          </a:xfrm>
          <a:prstGeom prst="ellipse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12" name="Image 1" descr="icons/vibr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821" y="231526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hazard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434340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pulse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394960" y="448056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5705856" y="448056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6016752" y="448056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7772400" y="1828800"/>
            <a:ext cx="3291840" cy="3566160"/>
          </a:xfrm>
          <a:prstGeom prst="roundRect">
            <a:avLst>
              <a:gd name="adj" fmla="val 2500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098280" y="2148840"/>
            <a:ext cx="640080" cy="640080"/>
          </a:xfrm>
          <a:prstGeom prst="ellipse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20" name="Image 2" descr="icons/vibr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4701" y="231526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9552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Center + Critical</a:t>
            </a:r>
            <a:endParaRPr lang="en-US" sz="1650" dirty="0"/>
          </a:p>
        </p:txBody>
      </p:sp>
      <p:sp>
        <p:nvSpPr>
          <p:cNvPr id="22" name="Text 17"/>
          <p:cNvSpPr/>
          <p:nvPr/>
        </p:nvSpPr>
        <p:spPr>
          <a:xfrm>
            <a:off x="7955280" y="3566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repeated pulse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695944" y="448056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/>
        </p:spPr>
      </p:sp>
      <p:sp>
        <p:nvSpPr>
          <p:cNvPr id="24" name="Shape 19"/>
          <p:cNvSpPr/>
          <p:nvPr/>
        </p:nvSpPr>
        <p:spPr>
          <a:xfrm>
            <a:off x="9006840" y="448056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/>
        </p:spPr>
      </p:sp>
      <p:sp>
        <p:nvSpPr>
          <p:cNvPr id="25" name="Shape 20"/>
          <p:cNvSpPr/>
          <p:nvPr/>
        </p:nvSpPr>
        <p:spPr>
          <a:xfrm>
            <a:off x="9317736" y="448056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/>
        </p:spPr>
      </p:sp>
      <p:sp>
        <p:nvSpPr>
          <p:cNvPr id="26" name="Shape 21"/>
          <p:cNvSpPr/>
          <p:nvPr/>
        </p:nvSpPr>
        <p:spPr>
          <a:xfrm>
            <a:off x="9628632" y="448056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/>
        </p:spPr>
      </p:sp>
      <p:sp>
        <p:nvSpPr>
          <p:cNvPr id="27" name="Shape 22"/>
          <p:cNvSpPr/>
          <p:nvPr/>
        </p:nvSpPr>
        <p:spPr>
          <a:xfrm>
            <a:off x="9939528" y="4480560"/>
            <a:ext cx="201168" cy="502920"/>
          </a:xfrm>
          <a:prstGeom prst="roundRect">
            <a:avLst>
              <a:gd name="adj" fmla="val 18182"/>
            </a:avLst>
          </a:prstGeom>
          <a:solidFill>
            <a:srgbClr val="FF6B35"/>
          </a:solidFill>
          <a:ln/>
        </p:spPr>
      </p:sp>
      <p:sp>
        <p:nvSpPr>
          <p:cNvPr id="28" name="Text 23"/>
          <p:cNvSpPr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is reserved for important hazards only — it isn't used for routine ambient detections.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34A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steps, in sequence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80136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video prototype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58952" y="2286000"/>
            <a:ext cx="0" cy="201168"/>
          </a:xfrm>
          <a:prstGeom prst="line">
            <a:avLst/>
          </a:prstGeom>
          <a:noFill/>
          <a:ln w="15875">
            <a:solidFill>
              <a:srgbClr val="D7DC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8716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15568" y="244144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YOLO on recorded walking clips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58952" y="2926080"/>
            <a:ext cx="0" cy="201168"/>
          </a:xfrm>
          <a:prstGeom prst="line">
            <a:avLst/>
          </a:prstGeom>
          <a:noFill/>
          <a:ln w="15875">
            <a:solidFill>
              <a:srgbClr val="D7DC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1272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5568" y="308152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zone + distance logic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58952" y="3566160"/>
            <a:ext cx="0" cy="201168"/>
          </a:xfrm>
          <a:prstGeom prst="line">
            <a:avLst/>
          </a:prstGeom>
          <a:noFill/>
          <a:ln w="15875">
            <a:solidFill>
              <a:srgbClr val="D7D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7673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72160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beep output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58952" y="4206240"/>
            <a:ext cx="0" cy="201168"/>
          </a:xfrm>
          <a:prstGeom prst="line">
            <a:avLst/>
          </a:prstGeom>
          <a:noFill/>
          <a:ln w="15875">
            <a:solidFill>
              <a:srgbClr val="D7DC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440740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436168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model to TFLite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58952" y="4846320"/>
            <a:ext cx="0" cy="201168"/>
          </a:xfrm>
          <a:prstGeom prst="line">
            <a:avLst/>
          </a:prstGeom>
          <a:noFill/>
          <a:ln w="15875">
            <a:solidFill>
              <a:srgbClr val="D7DC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047488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047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500176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Flutter app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355080" y="1847088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6355080" y="1847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22008" y="180136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camera stream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565392" y="2286000"/>
            <a:ext cx="0" cy="201168"/>
          </a:xfrm>
          <a:prstGeom prst="line">
            <a:avLst/>
          </a:prstGeom>
          <a:noFill/>
          <a:ln w="15875">
            <a:solidFill>
              <a:srgbClr val="D7DC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55080" y="2487168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2487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22008" y="244144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TFLite on-device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565392" y="2926080"/>
            <a:ext cx="0" cy="201168"/>
          </a:xfrm>
          <a:prstGeom prst="line">
            <a:avLst/>
          </a:prstGeom>
          <a:noFill/>
          <a:ln w="15875">
            <a:solidFill>
              <a:srgbClr val="D7DC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55080" y="3127248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22008" y="308152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risk engine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565392" y="3566160"/>
            <a:ext cx="0" cy="201168"/>
          </a:xfrm>
          <a:prstGeom prst="line">
            <a:avLst/>
          </a:prstGeom>
          <a:noFill/>
          <a:ln w="15875">
            <a:solidFill>
              <a:srgbClr val="D7DC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55080" y="3767328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0" name="Text 38"/>
          <p:cNvSpPr/>
          <p:nvPr/>
        </p:nvSpPr>
        <p:spPr>
          <a:xfrm>
            <a:off x="6355080" y="3767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22008" y="372160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beeps + vibration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565392" y="4206240"/>
            <a:ext cx="0" cy="201168"/>
          </a:xfrm>
          <a:prstGeom prst="line">
            <a:avLst/>
          </a:prstGeom>
          <a:noFill/>
          <a:ln w="15875">
            <a:solidFill>
              <a:srgbClr val="D7DCE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5080" y="4407408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4" name="Text 42"/>
          <p:cNvSpPr/>
          <p:nvPr/>
        </p:nvSpPr>
        <p:spPr>
          <a:xfrm>
            <a:off x="635508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22008" y="436168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training mode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565392" y="4846320"/>
            <a:ext cx="0" cy="201168"/>
          </a:xfrm>
          <a:prstGeom prst="line">
            <a:avLst/>
          </a:prstGeom>
          <a:noFill/>
          <a:ln w="15875">
            <a:solidFill>
              <a:srgbClr val="D7DCE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355080" y="5047488"/>
            <a:ext cx="420624" cy="42062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48" name="Text 46"/>
          <p:cNvSpPr/>
          <p:nvPr/>
        </p:nvSpPr>
        <p:spPr>
          <a:xfrm>
            <a:off x="6355080" y="5047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22008" y="5001768"/>
            <a:ext cx="4690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testing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3AC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SUCCESS CRITERIA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MVP is working when...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29184" cy="329184"/>
          </a:xfrm>
          <a:prstGeom prst="ellipse">
            <a:avLst/>
          </a:prstGeom>
          <a:solidFill>
            <a:srgbClr val="283A78"/>
          </a:solidFill>
          <a:ln/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89280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177393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runs offline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329184" cy="329184"/>
          </a:xfrm>
          <a:prstGeom prst="ellipse">
            <a:avLst/>
          </a:prstGeom>
          <a:solidFill>
            <a:srgbClr val="283A78"/>
          </a:solidFill>
          <a:ln/>
        </p:spPr>
      </p:sp>
      <p:pic>
        <p:nvPicPr>
          <p:cNvPr id="9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459736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2340864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detects common obstacles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2962656"/>
            <a:ext cx="329184" cy="329184"/>
          </a:xfrm>
          <a:prstGeom prst="ellipse">
            <a:avLst/>
          </a:prstGeom>
          <a:solidFill>
            <a:srgbClr val="283A78"/>
          </a:solidFill>
          <a:ln/>
        </p:spPr>
      </p:sp>
      <p:pic>
        <p:nvPicPr>
          <p:cNvPr id="12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026664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2907792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maps obstacle to left/center/right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3529584"/>
            <a:ext cx="329184" cy="329184"/>
          </a:xfrm>
          <a:prstGeom prst="ellipse">
            <a:avLst/>
          </a:prstGeom>
          <a:solidFill>
            <a:srgbClr val="283A78"/>
          </a:solidFill>
          <a:ln/>
        </p:spPr>
      </p:sp>
      <p:pic>
        <p:nvPicPr>
          <p:cNvPr id="15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593592"/>
            <a:ext cx="201168" cy="20116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24128" y="347472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estimate affects beep speed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126480" y="1828800"/>
            <a:ext cx="329184" cy="329184"/>
          </a:xfrm>
          <a:prstGeom prst="ellipse">
            <a:avLst/>
          </a:prstGeom>
          <a:solidFill>
            <a:srgbClr val="283A78"/>
          </a:solidFill>
          <a:ln/>
        </p:spPr>
      </p:sp>
      <p:pic>
        <p:nvPicPr>
          <p:cNvPr id="18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1892808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01968" y="177393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engine filters noise</a:t>
            </a:r>
            <a:endParaRPr lang="en-US" sz="1350" dirty="0"/>
          </a:p>
        </p:txBody>
      </p:sp>
      <p:sp>
        <p:nvSpPr>
          <p:cNvPr id="20" name="Shape 13"/>
          <p:cNvSpPr/>
          <p:nvPr/>
        </p:nvSpPr>
        <p:spPr>
          <a:xfrm>
            <a:off x="6126480" y="2395728"/>
            <a:ext cx="329184" cy="329184"/>
          </a:xfrm>
          <a:prstGeom prst="ellipse">
            <a:avLst/>
          </a:prstGeom>
          <a:solidFill>
            <a:srgbClr val="283A78"/>
          </a:solidFill>
          <a:ln/>
        </p:spPr>
      </p:sp>
      <p:pic>
        <p:nvPicPr>
          <p:cNvPr id="21" name="Image 5" descr="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2459736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01968" y="2340864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hears correct spatial cue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6126480" y="2962656"/>
            <a:ext cx="329184" cy="329184"/>
          </a:xfrm>
          <a:prstGeom prst="ellipse">
            <a:avLst/>
          </a:prstGeom>
          <a:solidFill>
            <a:srgbClr val="283A78"/>
          </a:solidFill>
          <a:ln/>
        </p:spPr>
      </p:sp>
      <p:pic>
        <p:nvPicPr>
          <p:cNvPr id="24" name="Image 6" descr="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90488" y="3026664"/>
            <a:ext cx="201168" cy="20116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601968" y="2907792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works for critical alerts</a:t>
            </a:r>
            <a:endParaRPr lang="en-US" sz="1350" dirty="0"/>
          </a:p>
        </p:txBody>
      </p:sp>
      <p:sp>
        <p:nvSpPr>
          <p:cNvPr id="26" name="Shape 17"/>
          <p:cNvSpPr/>
          <p:nvPr/>
        </p:nvSpPr>
        <p:spPr>
          <a:xfrm>
            <a:off x="6126480" y="3529584"/>
            <a:ext cx="329184" cy="329184"/>
          </a:xfrm>
          <a:prstGeom prst="ellipse">
            <a:avLst/>
          </a:prstGeom>
          <a:solidFill>
            <a:srgbClr val="283A78"/>
          </a:solidFill>
          <a:ln/>
        </p:spPr>
      </p:sp>
      <p:pic>
        <p:nvPicPr>
          <p:cNvPr id="27" name="Image 7" descr="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0488" y="359359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601968" y="3474720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feels usable</a:t>
            </a:r>
            <a:endParaRPr lang="en-US" sz="1350" dirty="0"/>
          </a:p>
        </p:txBody>
      </p:sp>
      <p:sp>
        <p:nvSpPr>
          <p:cNvPr id="29" name="Shape 19"/>
          <p:cNvSpPr/>
          <p:nvPr/>
        </p:nvSpPr>
        <p:spPr>
          <a:xfrm>
            <a:off x="548640" y="4709160"/>
            <a:ext cx="10515600" cy="1417320"/>
          </a:xfrm>
          <a:prstGeom prst="roundRect">
            <a:avLst>
              <a:gd name="adj" fmla="val 5806"/>
            </a:avLst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0"/>
          <p:cNvSpPr/>
          <p:nvPr/>
        </p:nvSpPr>
        <p:spPr>
          <a:xfrm>
            <a:off x="868680" y="4956048"/>
            <a:ext cx="914400" cy="914400"/>
          </a:xfrm>
          <a:prstGeom prst="ellipse">
            <a:avLst/>
          </a:prstGeom>
          <a:solidFill>
            <a:srgbClr val="C34A17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pic>
        <p:nvPicPr>
          <p:cNvPr id="31" name="Image 8" descr="icons/flag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6424" y="5193792"/>
            <a:ext cx="438912" cy="43891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2011680" y="489204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1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MILESTONE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2011680" y="5193792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Recorded video  →  Detection  →  Zone decision  →  Beep</a:t>
            </a:r>
            <a:endParaRPr lang="en-US" sz="2000" dirty="0"/>
          </a:p>
        </p:txBody>
      </p:sp>
      <p:sp>
        <p:nvSpPr>
          <p:cNvPr id="34" name="Text 23"/>
          <p:cNvSpPr/>
          <p:nvPr/>
        </p:nvSpPr>
        <p:spPr>
          <a:xfrm>
            <a:off x="1118585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89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NAVIGATION MVP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Phone-Based AI Navigation — Technical MVP</dc:title>
  <dc:subject>PptxGenJS Presentation</dc:subject>
  <dc:creator>Navigation MVP</dc:creator>
  <cp:lastModifiedBy>Navigation MVP</cp:lastModifiedBy>
  <cp:revision>1</cp:revision>
  <dcterms:created xsi:type="dcterms:W3CDTF">2026-07-01T00:10:02Z</dcterms:created>
  <dcterms:modified xsi:type="dcterms:W3CDTF">2026-07-01T00:10:02Z</dcterms:modified>
</cp:coreProperties>
</file>